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boto Slab" charset="1" panose="00000000000000000000"/>
      <p:regular r:id="rId17"/>
    </p:embeddedFont>
    <p:embeddedFont>
      <p:font typeface="Roboto" charset="1" panose="02000000000000000000"/>
      <p:regular r:id="rId18"/>
    </p:embeddedFont>
    <p:embeddedFont>
      <p:font typeface="Roboto Bold" charset="1" panose="02000000000000000000"/>
      <p:regular r:id="rId19"/>
    </p:embeddedFont>
    <p:embeddedFont>
      <p:font typeface="Roboto Italics" charset="1" panose="02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jpe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5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9.jpe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10182911"/>
            <a:ext cx="1609020" cy="47625"/>
            <a:chOff x="0" y="0"/>
            <a:chExt cx="2145360" cy="635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63497"/>
            </a:xfrm>
            <a:custGeom>
              <a:avLst/>
              <a:gdLst/>
              <a:ahLst/>
              <a:cxnLst/>
              <a:rect r="r" b="b" t="t" l="l"/>
              <a:pathLst>
                <a:path h="63497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63497"/>
                  </a:lnTo>
                  <a:lnTo>
                    <a:pt x="0" y="63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4798" r="2" b="-96187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2415302"/>
            <a:ext cx="9452677" cy="1792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Task Manager with Priority Scheduling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6182" y="4547492"/>
            <a:ext cx="9452677" cy="331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 Task Management System with Priority-Based Processing</a:t>
            </a:r>
          </a:p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Presented by:</a:t>
            </a: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Harshit Arora</a:t>
            </a:r>
          </a:p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Domain:</a:t>
            </a: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Software Development · Task Scheduling · Cloud Computing</a:t>
            </a:r>
          </a:p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Mentors:</a:t>
            </a: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Palash Sir — Project Guidance | Ishita Ma'am — Cloud &amp; Infrastructure Guidance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0792"/>
            <a:ext cx="16315868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About the Project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1409614"/>
            <a:ext cx="10484091" cy="5941095"/>
            <a:chOff x="0" y="0"/>
            <a:chExt cx="13978788" cy="792146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978762" cy="7921498"/>
            </a:xfrm>
            <a:custGeom>
              <a:avLst/>
              <a:gdLst/>
              <a:ahLst/>
              <a:cxnLst/>
              <a:rect r="r" b="b" t="t" l="l"/>
              <a:pathLst>
                <a:path h="7921498" w="13978762">
                  <a:moveTo>
                    <a:pt x="0" y="0"/>
                  </a:moveTo>
                  <a:lnTo>
                    <a:pt x="13978762" y="0"/>
                  </a:lnTo>
                  <a:lnTo>
                    <a:pt x="13978762" y="7921498"/>
                  </a:lnTo>
                  <a:lnTo>
                    <a:pt x="0" y="7921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2" r="0" b="-5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832746" y="3630073"/>
            <a:ext cx="5485486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What Is It?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32746" y="3913080"/>
            <a:ext cx="5485486" cy="520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 Task Management System designed to create, manage, and process tasks efficiently. The system integrates a </a:t>
            </a:r>
            <a:r>
              <a:rPr lang="en-US" sz="105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Priority Scheduling mechanism</a:t>
            </a:r>
            <a:r>
              <a:rPr lang="en-US" sz="10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that determines execution order based on assigned task priority levels.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32746" y="4504230"/>
            <a:ext cx="5485486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Core Idea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32746" y="4787236"/>
            <a:ext cx="5485486" cy="35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Long-term vision:</a:t>
            </a:r>
            <a:r>
              <a:rPr lang="en-US" sz="10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Extend with asynchronous processing via Apache Kafka and deploy on cloud infrastructure.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991" y="7510082"/>
            <a:ext cx="709260" cy="851221"/>
            <a:chOff x="0" y="0"/>
            <a:chExt cx="945680" cy="1134961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945642" cy="1134999"/>
            </a:xfrm>
            <a:custGeom>
              <a:avLst/>
              <a:gdLst/>
              <a:ahLst/>
              <a:cxnLst/>
              <a:rect r="r" b="b" t="t" l="l"/>
              <a:pathLst>
                <a:path h="1134999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1134999"/>
                  </a:lnTo>
                  <a:lnTo>
                    <a:pt x="0" y="1134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t="0" r="-9" b="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73136" y="7651871"/>
            <a:ext cx="15535713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Manage Tasks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2991" y="8361293"/>
            <a:ext cx="709260" cy="851221"/>
            <a:chOff x="0" y="0"/>
            <a:chExt cx="945680" cy="1134961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945642" cy="1134999"/>
            </a:xfrm>
            <a:custGeom>
              <a:avLst/>
              <a:gdLst/>
              <a:ahLst/>
              <a:cxnLst/>
              <a:rect r="r" b="b" t="t" l="l"/>
              <a:pathLst>
                <a:path h="1134999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1134999"/>
                  </a:lnTo>
                  <a:lnTo>
                    <a:pt x="0" y="1134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" t="0" r="-9" b="3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773136" y="8503091"/>
            <a:ext cx="15535713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Assign Priority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991" y="9212513"/>
            <a:ext cx="709260" cy="851221"/>
            <a:chOff x="0" y="0"/>
            <a:chExt cx="945680" cy="1134961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945642" cy="1134999"/>
            </a:xfrm>
            <a:custGeom>
              <a:avLst/>
              <a:gdLst/>
              <a:ahLst/>
              <a:cxnLst/>
              <a:rect r="r" b="b" t="t" l="l"/>
              <a:pathLst>
                <a:path h="1134999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1134999"/>
                  </a:lnTo>
                  <a:lnTo>
                    <a:pt x="0" y="1134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9" b="3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773136" y="9354312"/>
            <a:ext cx="15535713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Schedule Tasks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991" y="10063734"/>
            <a:ext cx="709260" cy="851221"/>
            <a:chOff x="0" y="0"/>
            <a:chExt cx="945680" cy="1134961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945642" cy="1134999"/>
            </a:xfrm>
            <a:custGeom>
              <a:avLst/>
              <a:gdLst/>
              <a:ahLst/>
              <a:cxnLst/>
              <a:rect r="r" b="b" t="t" l="l"/>
              <a:pathLst>
                <a:path h="1134999" w="945642">
                  <a:moveTo>
                    <a:pt x="0" y="0"/>
                  </a:moveTo>
                  <a:lnTo>
                    <a:pt x="945642" y="0"/>
                  </a:lnTo>
                  <a:lnTo>
                    <a:pt x="945642" y="1134999"/>
                  </a:lnTo>
                  <a:lnTo>
                    <a:pt x="0" y="11349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" t="0" r="-9" b="3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773136" y="10205533"/>
            <a:ext cx="15535713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Process Efficiently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94820"/>
            <a:ext cx="16315868" cy="9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Current Project Status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382288"/>
            <a:ext cx="1723095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The foundational layers of the system are complete and operational.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3241177"/>
            <a:ext cx="5249418" cy="4131869"/>
            <a:chOff x="0" y="0"/>
            <a:chExt cx="6999224" cy="55091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9224" cy="5509133"/>
            </a:xfrm>
            <a:custGeom>
              <a:avLst/>
              <a:gdLst/>
              <a:ahLst/>
              <a:cxnLst/>
              <a:rect r="r" b="b" t="t" l="l"/>
              <a:pathLst>
                <a:path h="5509133" w="699922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42455" y="0"/>
                  </a:lnTo>
                  <a:cubicBezTo>
                    <a:pt x="6973824" y="0"/>
                    <a:pt x="6999224" y="25400"/>
                    <a:pt x="6999224" y="56769"/>
                  </a:cubicBezTo>
                  <a:lnTo>
                    <a:pt x="6999224" y="5452364"/>
                  </a:lnTo>
                  <a:cubicBezTo>
                    <a:pt x="6999224" y="5483733"/>
                    <a:pt x="6973824" y="5509133"/>
                    <a:pt x="6942455" y="5509133"/>
                  </a:cubicBezTo>
                  <a:lnTo>
                    <a:pt x="56769" y="5509133"/>
                  </a:lnTo>
                  <a:cubicBezTo>
                    <a:pt x="25400" y="5509133"/>
                    <a:pt x="0" y="5483733"/>
                    <a:pt x="0" y="5452364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76721" y="3524917"/>
            <a:ext cx="851192" cy="851221"/>
            <a:chOff x="0" y="0"/>
            <a:chExt cx="1134923" cy="11349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872" cy="1134872"/>
            </a:xfrm>
            <a:custGeom>
              <a:avLst/>
              <a:gdLst/>
              <a:ahLst/>
              <a:cxnLst/>
              <a:rect r="r" b="b" t="t" l="l"/>
              <a:pathLst>
                <a:path h="1134872" w="1134872">
                  <a:moveTo>
                    <a:pt x="0" y="567436"/>
                  </a:moveTo>
                  <a:cubicBezTo>
                    <a:pt x="0" y="254127"/>
                    <a:pt x="254000" y="0"/>
                    <a:pt x="567436" y="0"/>
                  </a:cubicBezTo>
                  <a:cubicBezTo>
                    <a:pt x="880872" y="0"/>
                    <a:pt x="1134872" y="254127"/>
                    <a:pt x="1134872" y="567436"/>
                  </a:cubicBezTo>
                  <a:cubicBezTo>
                    <a:pt x="1134872" y="880745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599CE8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0856" y="3758908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3"/>
                </a:lnTo>
                <a:lnTo>
                  <a:pt x="0" y="3829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6721" y="4650353"/>
            <a:ext cx="4681957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Basic Task Management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6721" y="5187658"/>
            <a:ext cx="4681957" cy="14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Full CRUD operations implemented — tasks can be created, viewed, updated, and deleted reliably.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26139" y="3241177"/>
            <a:ext cx="5249418" cy="4131869"/>
            <a:chOff x="0" y="0"/>
            <a:chExt cx="6999224" cy="55091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99224" cy="5509133"/>
            </a:xfrm>
            <a:custGeom>
              <a:avLst/>
              <a:gdLst/>
              <a:ahLst/>
              <a:cxnLst/>
              <a:rect r="r" b="b" t="t" l="l"/>
              <a:pathLst>
                <a:path h="5509133" w="699922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42455" y="0"/>
                  </a:lnTo>
                  <a:cubicBezTo>
                    <a:pt x="6973824" y="0"/>
                    <a:pt x="6999224" y="25400"/>
                    <a:pt x="6999224" y="56769"/>
                  </a:cubicBezTo>
                  <a:lnTo>
                    <a:pt x="6999224" y="5452364"/>
                  </a:lnTo>
                  <a:cubicBezTo>
                    <a:pt x="6999224" y="5483733"/>
                    <a:pt x="6973824" y="5509133"/>
                    <a:pt x="6942455" y="5509133"/>
                  </a:cubicBezTo>
                  <a:lnTo>
                    <a:pt x="56769" y="5509133"/>
                  </a:lnTo>
                  <a:cubicBezTo>
                    <a:pt x="25400" y="5509133"/>
                    <a:pt x="0" y="5483733"/>
                    <a:pt x="0" y="5452364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809870" y="3524917"/>
            <a:ext cx="851192" cy="851221"/>
            <a:chOff x="0" y="0"/>
            <a:chExt cx="1134923" cy="11349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4872" cy="1134872"/>
            </a:xfrm>
            <a:custGeom>
              <a:avLst/>
              <a:gdLst/>
              <a:ahLst/>
              <a:cxnLst/>
              <a:rect r="r" b="b" t="t" l="l"/>
              <a:pathLst>
                <a:path h="1134872" w="1134872">
                  <a:moveTo>
                    <a:pt x="0" y="567436"/>
                  </a:moveTo>
                  <a:cubicBezTo>
                    <a:pt x="0" y="254127"/>
                    <a:pt x="254000" y="0"/>
                    <a:pt x="567436" y="0"/>
                  </a:cubicBezTo>
                  <a:cubicBezTo>
                    <a:pt x="880872" y="0"/>
                    <a:pt x="1134872" y="254127"/>
                    <a:pt x="1134872" y="567436"/>
                  </a:cubicBezTo>
                  <a:cubicBezTo>
                    <a:pt x="1134872" y="880745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599CE8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7044004" y="3758908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3"/>
                </a:lnTo>
                <a:lnTo>
                  <a:pt x="0" y="3829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221" t="0" r="-1221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809870" y="4650353"/>
            <a:ext cx="4681957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Priority Scheduling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09870" y="5187658"/>
            <a:ext cx="4681957" cy="190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Priority levels integrated into the task model. The system processes higher-priority tasks before lower ones.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59288" y="3241177"/>
            <a:ext cx="5249418" cy="4131869"/>
            <a:chOff x="0" y="0"/>
            <a:chExt cx="6999224" cy="55091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99224" cy="5509133"/>
            </a:xfrm>
            <a:custGeom>
              <a:avLst/>
              <a:gdLst/>
              <a:ahLst/>
              <a:cxnLst/>
              <a:rect r="r" b="b" t="t" l="l"/>
              <a:pathLst>
                <a:path h="5509133" w="699922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6942455" y="0"/>
                  </a:lnTo>
                  <a:cubicBezTo>
                    <a:pt x="6973824" y="0"/>
                    <a:pt x="6999224" y="25400"/>
                    <a:pt x="6999224" y="56769"/>
                  </a:cubicBezTo>
                  <a:lnTo>
                    <a:pt x="6999224" y="5452364"/>
                  </a:lnTo>
                  <a:cubicBezTo>
                    <a:pt x="6999224" y="5483733"/>
                    <a:pt x="6973824" y="5509133"/>
                    <a:pt x="6942455" y="5509133"/>
                  </a:cubicBezTo>
                  <a:lnTo>
                    <a:pt x="56769" y="5509133"/>
                  </a:lnTo>
                  <a:cubicBezTo>
                    <a:pt x="25400" y="5509133"/>
                    <a:pt x="0" y="5483733"/>
                    <a:pt x="0" y="5452364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343019" y="3524917"/>
            <a:ext cx="851192" cy="851221"/>
            <a:chOff x="0" y="0"/>
            <a:chExt cx="1134923" cy="11349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4872" cy="1134872"/>
            </a:xfrm>
            <a:custGeom>
              <a:avLst/>
              <a:gdLst/>
              <a:ahLst/>
              <a:cxnLst/>
              <a:rect r="r" b="b" t="t" l="l"/>
              <a:pathLst>
                <a:path h="1134872" w="1134872">
                  <a:moveTo>
                    <a:pt x="0" y="567436"/>
                  </a:moveTo>
                  <a:cubicBezTo>
                    <a:pt x="0" y="254127"/>
                    <a:pt x="254000" y="0"/>
                    <a:pt x="567436" y="0"/>
                  </a:cubicBezTo>
                  <a:cubicBezTo>
                    <a:pt x="880872" y="0"/>
                    <a:pt x="1134872" y="254127"/>
                    <a:pt x="1134872" y="567436"/>
                  </a:cubicBezTo>
                  <a:cubicBezTo>
                    <a:pt x="1134872" y="880745"/>
                    <a:pt x="880872" y="1134872"/>
                    <a:pt x="567436" y="1134872"/>
                  </a:cubicBezTo>
                  <a:cubicBezTo>
                    <a:pt x="254000" y="1134872"/>
                    <a:pt x="0" y="880872"/>
                    <a:pt x="0" y="567436"/>
                  </a:cubicBezTo>
                  <a:close/>
                </a:path>
              </a:pathLst>
            </a:custGeom>
            <a:solidFill>
              <a:srgbClr val="599CE8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2577153" y="3758908"/>
            <a:ext cx="382924" cy="382934"/>
          </a:xfrm>
          <a:custGeom>
            <a:avLst/>
            <a:gdLst/>
            <a:ahLst/>
            <a:cxnLst/>
            <a:rect r="r" b="b" t="t" l="l"/>
            <a:pathLst>
              <a:path h="382934" w="382924">
                <a:moveTo>
                  <a:pt x="0" y="0"/>
                </a:moveTo>
                <a:lnTo>
                  <a:pt x="382924" y="0"/>
                </a:lnTo>
                <a:lnTo>
                  <a:pt x="382924" y="382933"/>
                </a:lnTo>
                <a:lnTo>
                  <a:pt x="0" y="3829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656" r="0" b="-3658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343019" y="4650353"/>
            <a:ext cx="4681957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Project Planning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43019" y="5187658"/>
            <a:ext cx="4681957" cy="190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Project synopsis prepared. Future architecture and cloud implementation roadmap documented.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991" y="7692238"/>
            <a:ext cx="16315868" cy="1588789"/>
            <a:chOff x="0" y="0"/>
            <a:chExt cx="21754490" cy="211838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754464" cy="2118360"/>
            </a:xfrm>
            <a:custGeom>
              <a:avLst/>
              <a:gdLst/>
              <a:ahLst/>
              <a:cxnLst/>
              <a:rect r="r" b="b" t="t" l="l"/>
              <a:pathLst>
                <a:path h="2118360" w="2175446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97696" y="0"/>
                  </a:lnTo>
                  <a:cubicBezTo>
                    <a:pt x="21729064" y="0"/>
                    <a:pt x="21754464" y="25400"/>
                    <a:pt x="21754464" y="56769"/>
                  </a:cubicBezTo>
                  <a:lnTo>
                    <a:pt x="21754464" y="2061591"/>
                  </a:lnTo>
                  <a:cubicBezTo>
                    <a:pt x="21754464" y="2092960"/>
                    <a:pt x="21729064" y="2118360"/>
                    <a:pt x="21697696" y="2118360"/>
                  </a:cubicBezTo>
                  <a:lnTo>
                    <a:pt x="56769" y="2118360"/>
                  </a:lnTo>
                  <a:cubicBezTo>
                    <a:pt x="25400" y="2118360"/>
                    <a:pt x="0" y="2092960"/>
                    <a:pt x="0" y="2061591"/>
                  </a:cubicBezTo>
                  <a:close/>
                </a:path>
              </a:pathLst>
            </a:custGeom>
            <a:solidFill>
              <a:srgbClr val="0D3E7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76721" y="8094088"/>
            <a:ext cx="354625" cy="283740"/>
            <a:chOff x="0" y="0"/>
            <a:chExt cx="472834" cy="37832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472821" cy="378333"/>
            </a:xfrm>
            <a:custGeom>
              <a:avLst/>
              <a:gdLst/>
              <a:ahLst/>
              <a:cxnLst/>
              <a:rect r="r" b="b" t="t" l="l"/>
              <a:pathLst>
                <a:path h="378333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74" t="0" r="-676" b="3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915077" y="7961147"/>
            <a:ext cx="15110041" cy="99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Status Summary:</a:t>
            </a:r>
            <a:r>
              <a:rPr lang="en-US" sz="21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Core application + priority scheduling completed. Kafka integration and cloud deployment are the next milestones.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0792"/>
            <a:ext cx="16315868" cy="45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Current Focus: Apache Kafka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4939294"/>
            <a:ext cx="7984865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Why Kafka?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5222300"/>
            <a:ext cx="7984865" cy="35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Apache Kafka introduces </a:t>
            </a:r>
            <a:r>
              <a:rPr lang="en-US" sz="1050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asynchronous, decoupled communication</a:t>
            </a:r>
            <a:r>
              <a:rPr lang="en-US" sz="10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between system components, enabling scalable and resilient task processing.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5643210"/>
            <a:ext cx="7984865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Learning &amp; Integration Stage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33519" y="1409614"/>
            <a:ext cx="7984865" cy="7985065"/>
            <a:chOff x="0" y="0"/>
            <a:chExt cx="10646486" cy="1064675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646537" cy="10646791"/>
            </a:xfrm>
            <a:custGeom>
              <a:avLst/>
              <a:gdLst/>
              <a:ahLst/>
              <a:cxnLst/>
              <a:rect r="r" b="b" t="t" l="l"/>
              <a:pathLst>
                <a:path h="10646791" w="10646537">
                  <a:moveTo>
                    <a:pt x="0" y="0"/>
                  </a:moveTo>
                  <a:lnTo>
                    <a:pt x="10646537" y="0"/>
                  </a:lnTo>
                  <a:lnTo>
                    <a:pt x="10646537" y="10646791"/>
                  </a:lnTo>
                  <a:lnTo>
                    <a:pt x="0" y="10646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0"/>
              </a:stretch>
            </a:blip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046159" y="9558442"/>
            <a:ext cx="212684" cy="212693"/>
          </a:xfrm>
          <a:custGeom>
            <a:avLst/>
            <a:gdLst/>
            <a:ahLst/>
            <a:cxnLst/>
            <a:rect r="r" b="b" t="t" l="l"/>
            <a:pathLst>
              <a:path h="212693" w="212684">
                <a:moveTo>
                  <a:pt x="0" y="0"/>
                </a:moveTo>
                <a:lnTo>
                  <a:pt x="212684" y="0"/>
                </a:lnTo>
                <a:lnTo>
                  <a:pt x="212684" y="212694"/>
                </a:lnTo>
                <a:lnTo>
                  <a:pt x="0" y="212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697" t="0" r="-869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53963" y="9554042"/>
            <a:ext cx="7652575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Kafka Fundamentals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3963" y="9808597"/>
            <a:ext cx="7652575" cy="17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Understanding architecture, brokers, and cluster design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248327" y="9558442"/>
            <a:ext cx="212684" cy="212693"/>
          </a:xfrm>
          <a:custGeom>
            <a:avLst/>
            <a:gdLst/>
            <a:ahLst/>
            <a:cxnLst/>
            <a:rect r="r" b="b" t="t" l="l"/>
            <a:pathLst>
              <a:path h="212693" w="212684">
                <a:moveTo>
                  <a:pt x="0" y="0"/>
                </a:moveTo>
                <a:lnTo>
                  <a:pt x="212684" y="0"/>
                </a:lnTo>
                <a:lnTo>
                  <a:pt x="212684" y="212694"/>
                </a:lnTo>
                <a:lnTo>
                  <a:pt x="0" y="212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697" t="0" r="-8697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56131" y="9554042"/>
            <a:ext cx="7652728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Producer &amp; Consumer Model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56131" y="9808597"/>
            <a:ext cx="7652728" cy="17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Learning how messages are published and consumed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046159" y="10134552"/>
            <a:ext cx="212684" cy="212693"/>
          </a:xfrm>
          <a:custGeom>
            <a:avLst/>
            <a:gdLst/>
            <a:ahLst/>
            <a:cxnLst/>
            <a:rect r="r" b="b" t="t" l="l"/>
            <a:pathLst>
              <a:path h="212693" w="212684">
                <a:moveTo>
                  <a:pt x="0" y="0"/>
                </a:moveTo>
                <a:lnTo>
                  <a:pt x="212684" y="0"/>
                </a:lnTo>
                <a:lnTo>
                  <a:pt x="212684" y="212694"/>
                </a:lnTo>
                <a:lnTo>
                  <a:pt x="0" y="212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697" t="0" r="-8697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53963" y="10130161"/>
            <a:ext cx="7652575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Topic Design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3963" y="10384717"/>
            <a:ext cx="7652575" cy="17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Structuring topics to fit the task-management flow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248327" y="10134552"/>
            <a:ext cx="212684" cy="212693"/>
          </a:xfrm>
          <a:custGeom>
            <a:avLst/>
            <a:gdLst/>
            <a:ahLst/>
            <a:cxnLst/>
            <a:rect r="r" b="b" t="t" l="l"/>
            <a:pathLst>
              <a:path h="212693" w="212684">
                <a:moveTo>
                  <a:pt x="0" y="0"/>
                </a:moveTo>
                <a:lnTo>
                  <a:pt x="212684" y="0"/>
                </a:lnTo>
                <a:lnTo>
                  <a:pt x="212684" y="212694"/>
                </a:lnTo>
                <a:lnTo>
                  <a:pt x="0" y="212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697" t="0" r="-8697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656131" y="10130161"/>
            <a:ext cx="7652728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Integration Planning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56131" y="10384717"/>
            <a:ext cx="7652728" cy="17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Evaluating the best approach to embed Kafka into the existing system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93442"/>
            <a:ext cx="16315868" cy="67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4053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Future Direction &amp; Next Steps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836639"/>
            <a:ext cx="7903835" cy="3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Planned Development Roadmap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930531" y="2343788"/>
            <a:ext cx="28594" cy="6966728"/>
            <a:chOff x="0" y="0"/>
            <a:chExt cx="38125" cy="92889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" cy="9288907"/>
            </a:xfrm>
            <a:custGeom>
              <a:avLst/>
              <a:gdLst/>
              <a:ahLst/>
              <a:cxnLst/>
              <a:rect r="r" b="b" t="t" l="l"/>
              <a:pathLst>
                <a:path h="9288907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269857"/>
                  </a:lnTo>
                  <a:cubicBezTo>
                    <a:pt x="38100" y="9280398"/>
                    <a:pt x="29591" y="9288907"/>
                    <a:pt x="19050" y="9288907"/>
                  </a:cubicBezTo>
                  <a:cubicBezTo>
                    <a:pt x="8509" y="9288907"/>
                    <a:pt x="0" y="9280398"/>
                    <a:pt x="0" y="9269857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113971" y="2563778"/>
            <a:ext cx="625107" cy="28594"/>
            <a:chOff x="0" y="0"/>
            <a:chExt cx="833476" cy="381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3501" cy="38100"/>
            </a:xfrm>
            <a:custGeom>
              <a:avLst/>
              <a:gdLst/>
              <a:ahLst/>
              <a:cxnLst/>
              <a:rect r="r" b="b" t="t" l="l"/>
              <a:pathLst>
                <a:path h="38100" w="83350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4451" y="0"/>
                  </a:lnTo>
                  <a:cubicBezTo>
                    <a:pt x="824992" y="0"/>
                    <a:pt x="833501" y="8509"/>
                    <a:pt x="833501" y="19050"/>
                  </a:cubicBezTo>
                  <a:cubicBezTo>
                    <a:pt x="833501" y="29591"/>
                    <a:pt x="824992" y="38100"/>
                    <a:pt x="81445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710474" y="2343788"/>
            <a:ext cx="468716" cy="468725"/>
            <a:chOff x="0" y="0"/>
            <a:chExt cx="624954" cy="6249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4967" cy="624967"/>
            </a:xfrm>
            <a:custGeom>
              <a:avLst/>
              <a:gdLst/>
              <a:ahLst/>
              <a:cxnLst/>
              <a:rect r="r" b="b" t="t" l="l"/>
              <a:pathLst>
                <a:path h="624967" w="624967">
                  <a:moveTo>
                    <a:pt x="0" y="41656"/>
                  </a:moveTo>
                  <a:cubicBezTo>
                    <a:pt x="0" y="18669"/>
                    <a:pt x="18669" y="0"/>
                    <a:pt x="41656" y="0"/>
                  </a:cubicBezTo>
                  <a:lnTo>
                    <a:pt x="583311" y="0"/>
                  </a:lnTo>
                  <a:cubicBezTo>
                    <a:pt x="606298" y="0"/>
                    <a:pt x="624967" y="18669"/>
                    <a:pt x="624967" y="41656"/>
                  </a:cubicBezTo>
                  <a:lnTo>
                    <a:pt x="624967" y="583311"/>
                  </a:lnTo>
                  <a:cubicBezTo>
                    <a:pt x="624967" y="606298"/>
                    <a:pt x="606298" y="624967"/>
                    <a:pt x="583311" y="624967"/>
                  </a:cubicBezTo>
                  <a:lnTo>
                    <a:pt x="41656" y="624967"/>
                  </a:lnTo>
                  <a:cubicBezTo>
                    <a:pt x="18669" y="624967"/>
                    <a:pt x="0" y="606298"/>
                    <a:pt x="0" y="583311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788522" y="2382736"/>
            <a:ext cx="312477" cy="390677"/>
            <a:chOff x="0" y="0"/>
            <a:chExt cx="416636" cy="5209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6638" cy="520909"/>
            </a:xfrm>
            <a:custGeom>
              <a:avLst/>
              <a:gdLst/>
              <a:ahLst/>
              <a:cxnLst/>
              <a:rect r="r" b="b" t="t" l="l"/>
              <a:pathLst>
                <a:path h="520909" w="416638">
                  <a:moveTo>
                    <a:pt x="0" y="0"/>
                  </a:moveTo>
                  <a:lnTo>
                    <a:pt x="416638" y="0"/>
                  </a:lnTo>
                  <a:lnTo>
                    <a:pt x="416638" y="520909"/>
                  </a:lnTo>
                  <a:lnTo>
                    <a:pt x="0" y="520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t="0" r="-110412" b="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416636" cy="511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D6E5E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92991" y="2405758"/>
            <a:ext cx="2910002" cy="3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202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CRUD Task Manager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991" y="2855738"/>
            <a:ext cx="2910002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4"/>
              </a:lnSpc>
            </a:pPr>
            <a:r>
              <a:rPr lang="en-US" sz="157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lang="en-US" sz="15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Complete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150596" y="3703206"/>
            <a:ext cx="625107" cy="28594"/>
            <a:chOff x="0" y="0"/>
            <a:chExt cx="833476" cy="381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3501" cy="38100"/>
            </a:xfrm>
            <a:custGeom>
              <a:avLst/>
              <a:gdLst/>
              <a:ahLst/>
              <a:cxnLst/>
              <a:rect r="r" b="b" t="t" l="l"/>
              <a:pathLst>
                <a:path h="38100" w="83350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4451" y="0"/>
                  </a:lnTo>
                  <a:cubicBezTo>
                    <a:pt x="824992" y="0"/>
                    <a:pt x="833501" y="8509"/>
                    <a:pt x="833501" y="19050"/>
                  </a:cubicBezTo>
                  <a:cubicBezTo>
                    <a:pt x="833501" y="29591"/>
                    <a:pt x="824992" y="38100"/>
                    <a:pt x="81445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710474" y="3483216"/>
            <a:ext cx="468716" cy="468725"/>
            <a:chOff x="0" y="0"/>
            <a:chExt cx="624954" cy="6249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4967" cy="624967"/>
            </a:xfrm>
            <a:custGeom>
              <a:avLst/>
              <a:gdLst/>
              <a:ahLst/>
              <a:cxnLst/>
              <a:rect r="r" b="b" t="t" l="l"/>
              <a:pathLst>
                <a:path h="624967" w="624967">
                  <a:moveTo>
                    <a:pt x="0" y="41656"/>
                  </a:moveTo>
                  <a:cubicBezTo>
                    <a:pt x="0" y="18669"/>
                    <a:pt x="18669" y="0"/>
                    <a:pt x="41656" y="0"/>
                  </a:cubicBezTo>
                  <a:lnTo>
                    <a:pt x="583311" y="0"/>
                  </a:lnTo>
                  <a:cubicBezTo>
                    <a:pt x="606298" y="0"/>
                    <a:pt x="624967" y="18669"/>
                    <a:pt x="624967" y="41656"/>
                  </a:cubicBezTo>
                  <a:lnTo>
                    <a:pt x="624967" y="583311"/>
                  </a:lnTo>
                  <a:cubicBezTo>
                    <a:pt x="624967" y="606298"/>
                    <a:pt x="606298" y="624967"/>
                    <a:pt x="583311" y="624967"/>
                  </a:cubicBezTo>
                  <a:lnTo>
                    <a:pt x="41656" y="624967"/>
                  </a:lnTo>
                  <a:cubicBezTo>
                    <a:pt x="18669" y="624967"/>
                    <a:pt x="0" y="606298"/>
                    <a:pt x="0" y="583311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88522" y="3522164"/>
            <a:ext cx="312477" cy="390677"/>
            <a:chOff x="0" y="0"/>
            <a:chExt cx="416636" cy="5209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6638" cy="520909"/>
            </a:xfrm>
            <a:custGeom>
              <a:avLst/>
              <a:gdLst/>
              <a:ahLst/>
              <a:cxnLst/>
              <a:rect r="r" b="b" t="t" l="l"/>
              <a:pathLst>
                <a:path h="520909" w="416638">
                  <a:moveTo>
                    <a:pt x="0" y="0"/>
                  </a:moveTo>
                  <a:lnTo>
                    <a:pt x="416638" y="0"/>
                  </a:lnTo>
                  <a:lnTo>
                    <a:pt x="416638" y="520909"/>
                  </a:lnTo>
                  <a:lnTo>
                    <a:pt x="0" y="520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t="0" r="-110412" b="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416636" cy="511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D6E5E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2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5986672" y="3545186"/>
            <a:ext cx="2910154" cy="3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Priority Scheduling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86672" y="3995166"/>
            <a:ext cx="2910154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lang="en-US" sz="15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Complete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113971" y="4725410"/>
            <a:ext cx="625107" cy="28594"/>
            <a:chOff x="0" y="0"/>
            <a:chExt cx="833476" cy="381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33501" cy="38100"/>
            </a:xfrm>
            <a:custGeom>
              <a:avLst/>
              <a:gdLst/>
              <a:ahLst/>
              <a:cxnLst/>
              <a:rect r="r" b="b" t="t" l="l"/>
              <a:pathLst>
                <a:path h="38100" w="83350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4451" y="0"/>
                  </a:lnTo>
                  <a:cubicBezTo>
                    <a:pt x="824992" y="0"/>
                    <a:pt x="833501" y="8509"/>
                    <a:pt x="833501" y="19050"/>
                  </a:cubicBezTo>
                  <a:cubicBezTo>
                    <a:pt x="833501" y="29591"/>
                    <a:pt x="824992" y="38100"/>
                    <a:pt x="81445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710474" y="4505420"/>
            <a:ext cx="468716" cy="468725"/>
            <a:chOff x="0" y="0"/>
            <a:chExt cx="624954" cy="6249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4967" cy="624967"/>
            </a:xfrm>
            <a:custGeom>
              <a:avLst/>
              <a:gdLst/>
              <a:ahLst/>
              <a:cxnLst/>
              <a:rect r="r" b="b" t="t" l="l"/>
              <a:pathLst>
                <a:path h="624967" w="624967">
                  <a:moveTo>
                    <a:pt x="0" y="41656"/>
                  </a:moveTo>
                  <a:cubicBezTo>
                    <a:pt x="0" y="18669"/>
                    <a:pt x="18669" y="0"/>
                    <a:pt x="41656" y="0"/>
                  </a:cubicBezTo>
                  <a:lnTo>
                    <a:pt x="583311" y="0"/>
                  </a:lnTo>
                  <a:cubicBezTo>
                    <a:pt x="606298" y="0"/>
                    <a:pt x="624967" y="18669"/>
                    <a:pt x="624967" y="41656"/>
                  </a:cubicBezTo>
                  <a:lnTo>
                    <a:pt x="624967" y="583311"/>
                  </a:lnTo>
                  <a:cubicBezTo>
                    <a:pt x="624967" y="606298"/>
                    <a:pt x="606298" y="624967"/>
                    <a:pt x="583311" y="624967"/>
                  </a:cubicBezTo>
                  <a:lnTo>
                    <a:pt x="41656" y="624967"/>
                  </a:lnTo>
                  <a:cubicBezTo>
                    <a:pt x="18669" y="624967"/>
                    <a:pt x="0" y="606298"/>
                    <a:pt x="0" y="583311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788522" y="4544368"/>
            <a:ext cx="312477" cy="390677"/>
            <a:chOff x="0" y="0"/>
            <a:chExt cx="416636" cy="5209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6638" cy="520909"/>
            </a:xfrm>
            <a:custGeom>
              <a:avLst/>
              <a:gdLst/>
              <a:ahLst/>
              <a:cxnLst/>
              <a:rect r="r" b="b" t="t" l="l"/>
              <a:pathLst>
                <a:path h="520909" w="416638">
                  <a:moveTo>
                    <a:pt x="0" y="0"/>
                  </a:moveTo>
                  <a:lnTo>
                    <a:pt x="416638" y="0"/>
                  </a:lnTo>
                  <a:lnTo>
                    <a:pt x="416638" y="520909"/>
                  </a:lnTo>
                  <a:lnTo>
                    <a:pt x="0" y="520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t="0" r="-110412" b="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416636" cy="511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D6E5E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3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92991" y="4567390"/>
            <a:ext cx="2910002" cy="3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202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Kafka Integration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2991" y="5017370"/>
            <a:ext cx="2910002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4"/>
              </a:lnSpc>
            </a:pPr>
            <a:r>
              <a:rPr lang="en-US" sz="157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🔄</a:t>
            </a:r>
            <a:r>
              <a:rPr lang="en-US" sz="15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In Progress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150596" y="5747614"/>
            <a:ext cx="625107" cy="28594"/>
            <a:chOff x="0" y="0"/>
            <a:chExt cx="833476" cy="3812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33501" cy="38100"/>
            </a:xfrm>
            <a:custGeom>
              <a:avLst/>
              <a:gdLst/>
              <a:ahLst/>
              <a:cxnLst/>
              <a:rect r="r" b="b" t="t" l="l"/>
              <a:pathLst>
                <a:path h="38100" w="83350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4451" y="0"/>
                  </a:lnTo>
                  <a:cubicBezTo>
                    <a:pt x="824992" y="0"/>
                    <a:pt x="833501" y="8509"/>
                    <a:pt x="833501" y="19050"/>
                  </a:cubicBezTo>
                  <a:cubicBezTo>
                    <a:pt x="833501" y="29591"/>
                    <a:pt x="824992" y="38100"/>
                    <a:pt x="81445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0474" y="5527624"/>
            <a:ext cx="468716" cy="468725"/>
            <a:chOff x="0" y="0"/>
            <a:chExt cx="624954" cy="62496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4967" cy="624967"/>
            </a:xfrm>
            <a:custGeom>
              <a:avLst/>
              <a:gdLst/>
              <a:ahLst/>
              <a:cxnLst/>
              <a:rect r="r" b="b" t="t" l="l"/>
              <a:pathLst>
                <a:path h="624967" w="624967">
                  <a:moveTo>
                    <a:pt x="0" y="41656"/>
                  </a:moveTo>
                  <a:cubicBezTo>
                    <a:pt x="0" y="18669"/>
                    <a:pt x="18669" y="0"/>
                    <a:pt x="41656" y="0"/>
                  </a:cubicBezTo>
                  <a:lnTo>
                    <a:pt x="583311" y="0"/>
                  </a:lnTo>
                  <a:cubicBezTo>
                    <a:pt x="606298" y="0"/>
                    <a:pt x="624967" y="18669"/>
                    <a:pt x="624967" y="41656"/>
                  </a:cubicBezTo>
                  <a:lnTo>
                    <a:pt x="624967" y="583311"/>
                  </a:lnTo>
                  <a:cubicBezTo>
                    <a:pt x="624967" y="606298"/>
                    <a:pt x="606298" y="624967"/>
                    <a:pt x="583311" y="624967"/>
                  </a:cubicBezTo>
                  <a:lnTo>
                    <a:pt x="41656" y="624967"/>
                  </a:lnTo>
                  <a:cubicBezTo>
                    <a:pt x="18669" y="624967"/>
                    <a:pt x="0" y="606298"/>
                    <a:pt x="0" y="583311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788522" y="5566581"/>
            <a:ext cx="312477" cy="390677"/>
            <a:chOff x="0" y="0"/>
            <a:chExt cx="416636" cy="52090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6638" cy="520909"/>
            </a:xfrm>
            <a:custGeom>
              <a:avLst/>
              <a:gdLst/>
              <a:ahLst/>
              <a:cxnLst/>
              <a:rect r="r" b="b" t="t" l="l"/>
              <a:pathLst>
                <a:path h="520909" w="416638">
                  <a:moveTo>
                    <a:pt x="0" y="0"/>
                  </a:moveTo>
                  <a:lnTo>
                    <a:pt x="416638" y="0"/>
                  </a:lnTo>
                  <a:lnTo>
                    <a:pt x="416638" y="520909"/>
                  </a:lnTo>
                  <a:lnTo>
                    <a:pt x="0" y="520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t="0" r="-110412" b="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416636" cy="511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D6E5E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4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5986672" y="5589594"/>
            <a:ext cx="2910154" cy="66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Asynchronous Task Processing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986672" y="6365176"/>
            <a:ext cx="2910154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🔜</a:t>
            </a:r>
            <a:r>
              <a:rPr lang="en-US" sz="15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Planned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4113971" y="6769827"/>
            <a:ext cx="625107" cy="28594"/>
            <a:chOff x="0" y="0"/>
            <a:chExt cx="833476" cy="3812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33501" cy="38100"/>
            </a:xfrm>
            <a:custGeom>
              <a:avLst/>
              <a:gdLst/>
              <a:ahLst/>
              <a:cxnLst/>
              <a:rect r="r" b="b" t="t" l="l"/>
              <a:pathLst>
                <a:path h="38100" w="83350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4451" y="0"/>
                  </a:lnTo>
                  <a:cubicBezTo>
                    <a:pt x="824992" y="0"/>
                    <a:pt x="833501" y="8509"/>
                    <a:pt x="833501" y="19050"/>
                  </a:cubicBezTo>
                  <a:cubicBezTo>
                    <a:pt x="833501" y="29591"/>
                    <a:pt x="824992" y="38100"/>
                    <a:pt x="81445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4710474" y="6549838"/>
            <a:ext cx="468716" cy="468725"/>
            <a:chOff x="0" y="0"/>
            <a:chExt cx="624954" cy="62496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24967" cy="624967"/>
            </a:xfrm>
            <a:custGeom>
              <a:avLst/>
              <a:gdLst/>
              <a:ahLst/>
              <a:cxnLst/>
              <a:rect r="r" b="b" t="t" l="l"/>
              <a:pathLst>
                <a:path h="624967" w="624967">
                  <a:moveTo>
                    <a:pt x="0" y="41656"/>
                  </a:moveTo>
                  <a:cubicBezTo>
                    <a:pt x="0" y="18669"/>
                    <a:pt x="18669" y="0"/>
                    <a:pt x="41656" y="0"/>
                  </a:cubicBezTo>
                  <a:lnTo>
                    <a:pt x="583311" y="0"/>
                  </a:lnTo>
                  <a:cubicBezTo>
                    <a:pt x="606298" y="0"/>
                    <a:pt x="624967" y="18669"/>
                    <a:pt x="624967" y="41656"/>
                  </a:cubicBezTo>
                  <a:lnTo>
                    <a:pt x="624967" y="583311"/>
                  </a:lnTo>
                  <a:cubicBezTo>
                    <a:pt x="624967" y="606298"/>
                    <a:pt x="606298" y="624967"/>
                    <a:pt x="583311" y="624967"/>
                  </a:cubicBezTo>
                  <a:lnTo>
                    <a:pt x="41656" y="624967"/>
                  </a:lnTo>
                  <a:cubicBezTo>
                    <a:pt x="18669" y="624967"/>
                    <a:pt x="0" y="606298"/>
                    <a:pt x="0" y="583311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788522" y="6588785"/>
            <a:ext cx="312477" cy="390677"/>
            <a:chOff x="0" y="0"/>
            <a:chExt cx="416636" cy="52090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6638" cy="520909"/>
            </a:xfrm>
            <a:custGeom>
              <a:avLst/>
              <a:gdLst/>
              <a:ahLst/>
              <a:cxnLst/>
              <a:rect r="r" b="b" t="t" l="l"/>
              <a:pathLst>
                <a:path h="520909" w="416638">
                  <a:moveTo>
                    <a:pt x="0" y="0"/>
                  </a:moveTo>
                  <a:lnTo>
                    <a:pt x="416638" y="0"/>
                  </a:lnTo>
                  <a:lnTo>
                    <a:pt x="416638" y="520909"/>
                  </a:lnTo>
                  <a:lnTo>
                    <a:pt x="0" y="520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t="0" r="-110412" b="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416636" cy="511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D6E5E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5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92991" y="6611807"/>
            <a:ext cx="2910002" cy="3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9"/>
              </a:lnSpc>
            </a:pPr>
            <a:r>
              <a:rPr lang="en-US" sz="202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Cloud Deployment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92991" y="7061787"/>
            <a:ext cx="2910002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94"/>
              </a:lnSpc>
            </a:pPr>
            <a:r>
              <a:rPr lang="en-US" sz="157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🔜</a:t>
            </a:r>
            <a:r>
              <a:rPr lang="en-US" sz="15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Planned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5150596" y="7792031"/>
            <a:ext cx="625107" cy="28594"/>
            <a:chOff x="0" y="0"/>
            <a:chExt cx="833476" cy="3812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33501" cy="38100"/>
            </a:xfrm>
            <a:custGeom>
              <a:avLst/>
              <a:gdLst/>
              <a:ahLst/>
              <a:cxnLst/>
              <a:rect r="r" b="b" t="t" l="l"/>
              <a:pathLst>
                <a:path h="38100" w="83350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14451" y="0"/>
                  </a:lnTo>
                  <a:cubicBezTo>
                    <a:pt x="824992" y="0"/>
                    <a:pt x="833501" y="8509"/>
                    <a:pt x="833501" y="19050"/>
                  </a:cubicBezTo>
                  <a:cubicBezTo>
                    <a:pt x="833501" y="29591"/>
                    <a:pt x="824992" y="38100"/>
                    <a:pt x="81445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710474" y="7572042"/>
            <a:ext cx="468716" cy="468725"/>
            <a:chOff x="0" y="0"/>
            <a:chExt cx="624954" cy="62496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24967" cy="624967"/>
            </a:xfrm>
            <a:custGeom>
              <a:avLst/>
              <a:gdLst/>
              <a:ahLst/>
              <a:cxnLst/>
              <a:rect r="r" b="b" t="t" l="l"/>
              <a:pathLst>
                <a:path h="624967" w="624967">
                  <a:moveTo>
                    <a:pt x="0" y="41656"/>
                  </a:moveTo>
                  <a:cubicBezTo>
                    <a:pt x="0" y="18669"/>
                    <a:pt x="18669" y="0"/>
                    <a:pt x="41656" y="0"/>
                  </a:cubicBezTo>
                  <a:lnTo>
                    <a:pt x="583311" y="0"/>
                  </a:lnTo>
                  <a:cubicBezTo>
                    <a:pt x="606298" y="0"/>
                    <a:pt x="624967" y="18669"/>
                    <a:pt x="624967" y="41656"/>
                  </a:cubicBezTo>
                  <a:lnTo>
                    <a:pt x="624967" y="583311"/>
                  </a:lnTo>
                  <a:cubicBezTo>
                    <a:pt x="624967" y="606298"/>
                    <a:pt x="606298" y="624967"/>
                    <a:pt x="583311" y="624967"/>
                  </a:cubicBezTo>
                  <a:lnTo>
                    <a:pt x="41656" y="624967"/>
                  </a:lnTo>
                  <a:cubicBezTo>
                    <a:pt x="18669" y="624967"/>
                    <a:pt x="0" y="606298"/>
                    <a:pt x="0" y="583311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788522" y="7610989"/>
            <a:ext cx="312477" cy="390677"/>
            <a:chOff x="0" y="0"/>
            <a:chExt cx="416636" cy="52090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6638" cy="520909"/>
            </a:xfrm>
            <a:custGeom>
              <a:avLst/>
              <a:gdLst/>
              <a:ahLst/>
              <a:cxnLst/>
              <a:rect r="r" b="b" t="t" l="l"/>
              <a:pathLst>
                <a:path h="520909" w="416638">
                  <a:moveTo>
                    <a:pt x="0" y="0"/>
                  </a:moveTo>
                  <a:lnTo>
                    <a:pt x="416638" y="0"/>
                  </a:lnTo>
                  <a:lnTo>
                    <a:pt x="416638" y="520909"/>
                  </a:lnTo>
                  <a:lnTo>
                    <a:pt x="0" y="5209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2" t="0" r="-110412" b="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9525"/>
              <a:ext cx="416636" cy="511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D6E5E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6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5986672" y="7634011"/>
            <a:ext cx="2910154" cy="660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Monitoring &amp; Scalability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986672" y="8409584"/>
            <a:ext cx="2910154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🔜</a:t>
            </a:r>
            <a:r>
              <a:rPr lang="en-US" sz="15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Planned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414548" y="1836639"/>
            <a:ext cx="7903835" cy="3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AWS Cloud Architecture (Planned)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400251" y="2329491"/>
            <a:ext cx="3904031" cy="1270197"/>
            <a:chOff x="0" y="0"/>
            <a:chExt cx="5205374" cy="16935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05476" cy="1693672"/>
            </a:xfrm>
            <a:custGeom>
              <a:avLst/>
              <a:gdLst/>
              <a:ahLst/>
              <a:cxnLst/>
              <a:rect r="r" b="b" t="t" l="l"/>
              <a:pathLst>
                <a:path h="1693672" w="5205476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lnTo>
                    <a:pt x="5162804" y="0"/>
                  </a:lnTo>
                  <a:cubicBezTo>
                    <a:pt x="5186299" y="0"/>
                    <a:pt x="5205476" y="19050"/>
                    <a:pt x="5205476" y="42672"/>
                  </a:cubicBezTo>
                  <a:lnTo>
                    <a:pt x="5205476" y="1651000"/>
                  </a:lnTo>
                  <a:cubicBezTo>
                    <a:pt x="5205476" y="1674495"/>
                    <a:pt x="5186426" y="1693672"/>
                    <a:pt x="5162804" y="1693672"/>
                  </a:cubicBezTo>
                  <a:lnTo>
                    <a:pt x="42672" y="1693672"/>
                  </a:lnTo>
                  <a:cubicBezTo>
                    <a:pt x="19050" y="1693545"/>
                    <a:pt x="0" y="1674495"/>
                    <a:pt x="0" y="1651000"/>
                  </a:cubicBezTo>
                  <a:close/>
                </a:path>
              </a:pathLst>
            </a:custGeom>
            <a:solidFill>
              <a:srgbClr val="202733"/>
            </a:solidFill>
            <a:ln w="28597" cap="sq">
              <a:solidFill>
                <a:srgbClr val="585F6B"/>
              </a:solidFill>
              <a:prstDash val="solid"/>
              <a:miter/>
            </a:ln>
          </p:spPr>
        </p:sp>
      </p:grpSp>
      <p:sp>
        <p:nvSpPr>
          <p:cNvPr name="TextBox 67" id="67"/>
          <p:cNvSpPr txBox="true"/>
          <p:nvPr/>
        </p:nvSpPr>
        <p:spPr>
          <a:xfrm rot="0">
            <a:off x="9651511" y="2571236"/>
            <a:ext cx="3401511" cy="3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EC2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651511" y="3021216"/>
            <a:ext cx="3401511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Application hosting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3428650" y="2329491"/>
            <a:ext cx="3904031" cy="1270197"/>
            <a:chOff x="0" y="0"/>
            <a:chExt cx="5205374" cy="169359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205476" cy="1693672"/>
            </a:xfrm>
            <a:custGeom>
              <a:avLst/>
              <a:gdLst/>
              <a:ahLst/>
              <a:cxnLst/>
              <a:rect r="r" b="b" t="t" l="l"/>
              <a:pathLst>
                <a:path h="1693672" w="5205476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lnTo>
                    <a:pt x="5162804" y="0"/>
                  </a:lnTo>
                  <a:cubicBezTo>
                    <a:pt x="5186299" y="0"/>
                    <a:pt x="5205476" y="19050"/>
                    <a:pt x="5205476" y="42672"/>
                  </a:cubicBezTo>
                  <a:lnTo>
                    <a:pt x="5205476" y="1651000"/>
                  </a:lnTo>
                  <a:cubicBezTo>
                    <a:pt x="5205476" y="1674495"/>
                    <a:pt x="5186426" y="1693672"/>
                    <a:pt x="5162804" y="1693672"/>
                  </a:cubicBezTo>
                  <a:lnTo>
                    <a:pt x="42672" y="1693672"/>
                  </a:lnTo>
                  <a:cubicBezTo>
                    <a:pt x="19050" y="1693545"/>
                    <a:pt x="0" y="1674495"/>
                    <a:pt x="0" y="1651000"/>
                  </a:cubicBezTo>
                  <a:close/>
                </a:path>
              </a:pathLst>
            </a:custGeom>
            <a:solidFill>
              <a:srgbClr val="202733"/>
            </a:solidFill>
            <a:ln w="28597" cap="sq">
              <a:solidFill>
                <a:srgbClr val="585F6B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13679910" y="2571236"/>
            <a:ext cx="3401511" cy="3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RDS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679910" y="3021216"/>
            <a:ext cx="3401511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Managed database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9400251" y="3724056"/>
            <a:ext cx="3904031" cy="1270197"/>
            <a:chOff x="0" y="0"/>
            <a:chExt cx="5205374" cy="169359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205476" cy="1693672"/>
            </a:xfrm>
            <a:custGeom>
              <a:avLst/>
              <a:gdLst/>
              <a:ahLst/>
              <a:cxnLst/>
              <a:rect r="r" b="b" t="t" l="l"/>
              <a:pathLst>
                <a:path h="1693672" w="5205476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lnTo>
                    <a:pt x="5162804" y="0"/>
                  </a:lnTo>
                  <a:cubicBezTo>
                    <a:pt x="5186299" y="0"/>
                    <a:pt x="5205476" y="19050"/>
                    <a:pt x="5205476" y="42672"/>
                  </a:cubicBezTo>
                  <a:lnTo>
                    <a:pt x="5205476" y="1651000"/>
                  </a:lnTo>
                  <a:cubicBezTo>
                    <a:pt x="5205476" y="1674495"/>
                    <a:pt x="5186426" y="1693672"/>
                    <a:pt x="5162804" y="1693672"/>
                  </a:cubicBezTo>
                  <a:lnTo>
                    <a:pt x="42672" y="1693672"/>
                  </a:lnTo>
                  <a:cubicBezTo>
                    <a:pt x="19050" y="1693545"/>
                    <a:pt x="0" y="1674495"/>
                    <a:pt x="0" y="1651000"/>
                  </a:cubicBezTo>
                  <a:close/>
                </a:path>
              </a:pathLst>
            </a:custGeom>
            <a:solidFill>
              <a:srgbClr val="202733"/>
            </a:solidFill>
            <a:ln w="28597" cap="sq">
              <a:solidFill>
                <a:srgbClr val="585F6B"/>
              </a:solidFill>
              <a:prstDash val="solid"/>
              <a:miter/>
            </a:ln>
          </p:spPr>
        </p:sp>
      </p:grpSp>
      <p:sp>
        <p:nvSpPr>
          <p:cNvPr name="TextBox 75" id="75"/>
          <p:cNvSpPr txBox="true"/>
          <p:nvPr/>
        </p:nvSpPr>
        <p:spPr>
          <a:xfrm rot="0">
            <a:off x="9651511" y="3965800"/>
            <a:ext cx="3401511" cy="3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S3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651511" y="4415790"/>
            <a:ext cx="3401511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Object storage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3428650" y="3724056"/>
            <a:ext cx="3904031" cy="1270197"/>
            <a:chOff x="0" y="0"/>
            <a:chExt cx="5205374" cy="169359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205476" cy="1693672"/>
            </a:xfrm>
            <a:custGeom>
              <a:avLst/>
              <a:gdLst/>
              <a:ahLst/>
              <a:cxnLst/>
              <a:rect r="r" b="b" t="t" l="l"/>
              <a:pathLst>
                <a:path h="1693672" w="5205476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lnTo>
                    <a:pt x="5162804" y="0"/>
                  </a:lnTo>
                  <a:cubicBezTo>
                    <a:pt x="5186299" y="0"/>
                    <a:pt x="5205476" y="19050"/>
                    <a:pt x="5205476" y="42672"/>
                  </a:cubicBezTo>
                  <a:lnTo>
                    <a:pt x="5205476" y="1651000"/>
                  </a:lnTo>
                  <a:cubicBezTo>
                    <a:pt x="5205476" y="1674495"/>
                    <a:pt x="5186426" y="1693672"/>
                    <a:pt x="5162804" y="1693672"/>
                  </a:cubicBezTo>
                  <a:lnTo>
                    <a:pt x="42672" y="1693672"/>
                  </a:lnTo>
                  <a:cubicBezTo>
                    <a:pt x="19050" y="1693545"/>
                    <a:pt x="0" y="1674495"/>
                    <a:pt x="0" y="1651000"/>
                  </a:cubicBezTo>
                  <a:close/>
                </a:path>
              </a:pathLst>
            </a:custGeom>
            <a:solidFill>
              <a:srgbClr val="202733"/>
            </a:solidFill>
            <a:ln w="28597" cap="sq">
              <a:solidFill>
                <a:srgbClr val="585F6B"/>
              </a:solidFill>
              <a:prstDash val="solid"/>
              <a:miter/>
            </a:ln>
          </p:spPr>
        </p:sp>
      </p:grpSp>
      <p:sp>
        <p:nvSpPr>
          <p:cNvPr name="TextBox 79" id="79"/>
          <p:cNvSpPr txBox="true"/>
          <p:nvPr/>
        </p:nvSpPr>
        <p:spPr>
          <a:xfrm rot="0">
            <a:off x="13679910" y="3965800"/>
            <a:ext cx="3401511" cy="3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VPC &amp; Security Groups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679910" y="4415790"/>
            <a:ext cx="3401511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Network isolation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9400251" y="5118630"/>
            <a:ext cx="3904031" cy="1270197"/>
            <a:chOff x="0" y="0"/>
            <a:chExt cx="5205374" cy="169359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205476" cy="1693672"/>
            </a:xfrm>
            <a:custGeom>
              <a:avLst/>
              <a:gdLst/>
              <a:ahLst/>
              <a:cxnLst/>
              <a:rect r="r" b="b" t="t" l="l"/>
              <a:pathLst>
                <a:path h="1693672" w="5205476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lnTo>
                    <a:pt x="5162804" y="0"/>
                  </a:lnTo>
                  <a:cubicBezTo>
                    <a:pt x="5186299" y="0"/>
                    <a:pt x="5205476" y="19050"/>
                    <a:pt x="5205476" y="42672"/>
                  </a:cubicBezTo>
                  <a:lnTo>
                    <a:pt x="5205476" y="1651000"/>
                  </a:lnTo>
                  <a:cubicBezTo>
                    <a:pt x="5205476" y="1674495"/>
                    <a:pt x="5186426" y="1693672"/>
                    <a:pt x="5162804" y="1693672"/>
                  </a:cubicBezTo>
                  <a:lnTo>
                    <a:pt x="42672" y="1693672"/>
                  </a:lnTo>
                  <a:cubicBezTo>
                    <a:pt x="19050" y="1693545"/>
                    <a:pt x="0" y="1674495"/>
                    <a:pt x="0" y="1651000"/>
                  </a:cubicBezTo>
                  <a:close/>
                </a:path>
              </a:pathLst>
            </a:custGeom>
            <a:solidFill>
              <a:srgbClr val="202733"/>
            </a:solidFill>
            <a:ln w="28597" cap="sq">
              <a:solidFill>
                <a:srgbClr val="585F6B"/>
              </a:solidFill>
              <a:prstDash val="solid"/>
              <a:miter/>
            </a:ln>
          </p:spPr>
        </p:sp>
      </p:grpSp>
      <p:sp>
        <p:nvSpPr>
          <p:cNvPr name="TextBox 83" id="83"/>
          <p:cNvSpPr txBox="true"/>
          <p:nvPr/>
        </p:nvSpPr>
        <p:spPr>
          <a:xfrm rot="0">
            <a:off x="9651511" y="5360375"/>
            <a:ext cx="3401511" cy="3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CloudWatch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651511" y="5810355"/>
            <a:ext cx="3401511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Monitoring &amp; logs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13428650" y="5118630"/>
            <a:ext cx="3904031" cy="1270197"/>
            <a:chOff x="0" y="0"/>
            <a:chExt cx="5205374" cy="169359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205476" cy="1693672"/>
            </a:xfrm>
            <a:custGeom>
              <a:avLst/>
              <a:gdLst/>
              <a:ahLst/>
              <a:cxnLst/>
              <a:rect r="r" b="b" t="t" l="l"/>
              <a:pathLst>
                <a:path h="1693672" w="5205476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lnTo>
                    <a:pt x="5162804" y="0"/>
                  </a:lnTo>
                  <a:cubicBezTo>
                    <a:pt x="5186299" y="0"/>
                    <a:pt x="5205476" y="19050"/>
                    <a:pt x="5205476" y="42672"/>
                  </a:cubicBezTo>
                  <a:lnTo>
                    <a:pt x="5205476" y="1651000"/>
                  </a:lnTo>
                  <a:cubicBezTo>
                    <a:pt x="5205476" y="1674495"/>
                    <a:pt x="5186426" y="1693672"/>
                    <a:pt x="5162804" y="1693672"/>
                  </a:cubicBezTo>
                  <a:lnTo>
                    <a:pt x="42672" y="1693672"/>
                  </a:lnTo>
                  <a:cubicBezTo>
                    <a:pt x="19050" y="1693545"/>
                    <a:pt x="0" y="1674495"/>
                    <a:pt x="0" y="1651000"/>
                  </a:cubicBezTo>
                  <a:close/>
                </a:path>
              </a:pathLst>
            </a:custGeom>
            <a:solidFill>
              <a:srgbClr val="202733"/>
            </a:solidFill>
            <a:ln w="28597" cap="sq">
              <a:solidFill>
                <a:srgbClr val="585F6B"/>
              </a:solidFill>
              <a:prstDash val="solid"/>
              <a:miter/>
            </a:ln>
          </p:spPr>
        </p:sp>
      </p:grpSp>
      <p:sp>
        <p:nvSpPr>
          <p:cNvPr name="TextBox 87" id="87"/>
          <p:cNvSpPr txBox="true"/>
          <p:nvPr/>
        </p:nvSpPr>
        <p:spPr>
          <a:xfrm rot="0">
            <a:off x="13679910" y="5360375"/>
            <a:ext cx="3401511" cy="335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Load Balancer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679910" y="5810355"/>
            <a:ext cx="3401511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Traffic distribution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9414548" y="6546561"/>
            <a:ext cx="7903835" cy="957415"/>
            <a:chOff x="0" y="0"/>
            <a:chExt cx="10538447" cy="127655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538461" cy="1276478"/>
            </a:xfrm>
            <a:custGeom>
              <a:avLst/>
              <a:gdLst/>
              <a:ahLst/>
              <a:cxnLst/>
              <a:rect r="r" b="b" t="t" l="l"/>
              <a:pathLst>
                <a:path h="1276478" w="10538461">
                  <a:moveTo>
                    <a:pt x="0" y="41656"/>
                  </a:moveTo>
                  <a:cubicBezTo>
                    <a:pt x="0" y="18669"/>
                    <a:pt x="18669" y="0"/>
                    <a:pt x="41656" y="0"/>
                  </a:cubicBezTo>
                  <a:lnTo>
                    <a:pt x="10496804" y="0"/>
                  </a:lnTo>
                  <a:cubicBezTo>
                    <a:pt x="10519791" y="0"/>
                    <a:pt x="10538461" y="18669"/>
                    <a:pt x="10538461" y="41656"/>
                  </a:cubicBezTo>
                  <a:lnTo>
                    <a:pt x="10538461" y="1234821"/>
                  </a:lnTo>
                  <a:cubicBezTo>
                    <a:pt x="10538461" y="1257808"/>
                    <a:pt x="10519791" y="1276477"/>
                    <a:pt x="10496804" y="1276477"/>
                  </a:cubicBezTo>
                  <a:lnTo>
                    <a:pt x="41656" y="1276477"/>
                  </a:lnTo>
                  <a:cubicBezTo>
                    <a:pt x="18669" y="1276604"/>
                    <a:pt x="0" y="1257935"/>
                    <a:pt x="0" y="1234821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622917" y="6778762"/>
            <a:ext cx="260347" cy="208369"/>
            <a:chOff x="0" y="0"/>
            <a:chExt cx="347129" cy="277825"/>
          </a:xfrm>
        </p:grpSpPr>
        <p:sp>
          <p:nvSpPr>
            <p:cNvPr name="Freeform 92" id="92" descr="preencoded.png"/>
            <p:cNvSpPr/>
            <p:nvPr/>
          </p:nvSpPr>
          <p:spPr>
            <a:xfrm flipH="false" flipV="false" rot="0">
              <a:off x="0" y="0"/>
              <a:ext cx="347091" cy="277876"/>
            </a:xfrm>
            <a:custGeom>
              <a:avLst/>
              <a:gdLst/>
              <a:ahLst/>
              <a:cxnLst/>
              <a:rect r="r" b="b" t="t" l="l"/>
              <a:pathLst>
                <a:path h="277876" w="347091">
                  <a:moveTo>
                    <a:pt x="0" y="0"/>
                  </a:moveTo>
                  <a:lnTo>
                    <a:pt x="347091" y="0"/>
                  </a:lnTo>
                  <a:lnTo>
                    <a:pt x="347091" y="277876"/>
                  </a:lnTo>
                  <a:lnTo>
                    <a:pt x="0" y="277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33" t="0" r="-944" b="18"/>
              </a:stretch>
            </a:blip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10091633" y="6698066"/>
            <a:ext cx="7018382" cy="616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Cloud components represent the </a:t>
            </a:r>
            <a:r>
              <a:rPr lang="en-US" sz="157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planned direction</a:t>
            </a:r>
            <a:r>
              <a:rPr lang="en-US" sz="15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not implemented features.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90209"/>
            <a:ext cx="16315868" cy="901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Potential Use Cases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355771"/>
            <a:ext cx="17230954" cy="52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The priority-based task processing model is applicable across a wide range of real-world systems.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991" y="3193961"/>
            <a:ext cx="558527" cy="558546"/>
          </a:xfrm>
          <a:custGeom>
            <a:avLst/>
            <a:gdLst/>
            <a:ahLst/>
            <a:cxnLst/>
            <a:rect r="r" b="b" t="t" l="l"/>
            <a:pathLst>
              <a:path h="558546" w="558527">
                <a:moveTo>
                  <a:pt x="0" y="0"/>
                </a:moveTo>
                <a:lnTo>
                  <a:pt x="558527" y="0"/>
                </a:lnTo>
                <a:lnTo>
                  <a:pt x="558527" y="558546"/>
                </a:lnTo>
                <a:lnTo>
                  <a:pt x="0" y="558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473" r="0" b="-847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991" y="4086596"/>
            <a:ext cx="5209499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Background Job 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4611691"/>
            <a:ext cx="5209499" cy="97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Report generation, batch data processing, and scheduled maintenance tasks.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6546094" y="3193961"/>
            <a:ext cx="558527" cy="558546"/>
          </a:xfrm>
          <a:custGeom>
            <a:avLst/>
            <a:gdLst/>
            <a:ahLst/>
            <a:cxnLst/>
            <a:rect r="r" b="b" t="t" l="l"/>
            <a:pathLst>
              <a:path h="558546" w="558527">
                <a:moveTo>
                  <a:pt x="0" y="0"/>
                </a:moveTo>
                <a:lnTo>
                  <a:pt x="558527" y="0"/>
                </a:lnTo>
                <a:lnTo>
                  <a:pt x="558527" y="558546"/>
                </a:lnTo>
                <a:lnTo>
                  <a:pt x="0" y="558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780" t="0" r="-678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546094" y="4086596"/>
            <a:ext cx="5209499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E-Commerce Systems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46094" y="4611691"/>
            <a:ext cx="5209499" cy="97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Order processing, inventory updates, and customer notification workflows.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2099207" y="3193961"/>
            <a:ext cx="558527" cy="558546"/>
          </a:xfrm>
          <a:custGeom>
            <a:avLst/>
            <a:gdLst/>
            <a:ahLst/>
            <a:cxnLst/>
            <a:rect r="r" b="b" t="t" l="l"/>
            <a:pathLst>
              <a:path h="558546" w="558527">
                <a:moveTo>
                  <a:pt x="0" y="0"/>
                </a:moveTo>
                <a:lnTo>
                  <a:pt x="558527" y="0"/>
                </a:lnTo>
                <a:lnTo>
                  <a:pt x="558527" y="558546"/>
                </a:lnTo>
                <a:lnTo>
                  <a:pt x="0" y="5585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2035" t="0" r="-22036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099207" y="4086596"/>
            <a:ext cx="5209651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DevOps / CI-CD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99207" y="4611691"/>
            <a:ext cx="5209651" cy="97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Build jobs, automated testing, and deployment-related task orchestration.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92991" y="6133833"/>
            <a:ext cx="558527" cy="558546"/>
          </a:xfrm>
          <a:custGeom>
            <a:avLst/>
            <a:gdLst/>
            <a:ahLst/>
            <a:cxnLst/>
            <a:rect r="r" b="b" t="t" l="l"/>
            <a:pathLst>
              <a:path h="558546" w="558527">
                <a:moveTo>
                  <a:pt x="0" y="0"/>
                </a:moveTo>
                <a:lnTo>
                  <a:pt x="558527" y="0"/>
                </a:lnTo>
                <a:lnTo>
                  <a:pt x="558527" y="558546"/>
                </a:lnTo>
                <a:lnTo>
                  <a:pt x="0" y="55854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390" t="0" r="-3391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92991" y="7026469"/>
            <a:ext cx="5209499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Notification Systems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991" y="7551553"/>
            <a:ext cx="5209499" cy="97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Email queues, push notifications, and background communication tasks.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6546094" y="6133833"/>
            <a:ext cx="558527" cy="558546"/>
          </a:xfrm>
          <a:custGeom>
            <a:avLst/>
            <a:gdLst/>
            <a:ahLst/>
            <a:cxnLst/>
            <a:rect r="r" b="b" t="t" l="l"/>
            <a:pathLst>
              <a:path h="558546" w="558527">
                <a:moveTo>
                  <a:pt x="0" y="0"/>
                </a:moveTo>
                <a:lnTo>
                  <a:pt x="558527" y="0"/>
                </a:lnTo>
                <a:lnTo>
                  <a:pt x="558527" y="558546"/>
                </a:lnTo>
                <a:lnTo>
                  <a:pt x="0" y="55854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237" t="0" r="-4239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546094" y="7026469"/>
            <a:ext cx="5209499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General Task Processing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6094" y="7551553"/>
            <a:ext cx="5209499" cy="97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Any multi-task system requiring differentiated priority-based execution.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991" y="8747284"/>
            <a:ext cx="17230954" cy="52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76" i="true">
                <a:solidFill>
                  <a:srgbClr val="D6E5EF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These represent potential applications of the concept — the current project is a prototype exploring these ideas.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0506"/>
            <a:ext cx="16315868" cy="614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3677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Project Mentorship &amp; Guidance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1721501"/>
            <a:ext cx="10442534" cy="5917568"/>
            <a:chOff x="0" y="0"/>
            <a:chExt cx="13923378" cy="789009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923390" cy="7890129"/>
            </a:xfrm>
            <a:custGeom>
              <a:avLst/>
              <a:gdLst/>
              <a:ahLst/>
              <a:cxnLst/>
              <a:rect r="r" b="b" t="t" l="l"/>
              <a:pathLst>
                <a:path h="7890129" w="13923390">
                  <a:moveTo>
                    <a:pt x="0" y="0"/>
                  </a:moveTo>
                  <a:lnTo>
                    <a:pt x="13923390" y="0"/>
                  </a:lnTo>
                  <a:lnTo>
                    <a:pt x="13923390" y="7890129"/>
                  </a:lnTo>
                  <a:lnTo>
                    <a:pt x="0" y="7890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" t="0" r="-6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10050" y="4278744"/>
            <a:ext cx="5408190" cy="78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42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 am working collaboratively with both mentors to evaluate each phase and determine the most appropriate implementation approach as the project evolves.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92991" y="7927124"/>
            <a:ext cx="8093888" cy="1578216"/>
          </a:xfrm>
          <a:custGeom>
            <a:avLst/>
            <a:gdLst/>
            <a:ahLst/>
            <a:cxnLst/>
            <a:rect r="r" b="b" t="t" l="l"/>
            <a:pathLst>
              <a:path h="1578216" w="8093888">
                <a:moveTo>
                  <a:pt x="0" y="0"/>
                </a:moveTo>
                <a:lnTo>
                  <a:pt x="8093888" y="0"/>
                </a:lnTo>
                <a:lnTo>
                  <a:pt x="8093888" y="1578216"/>
                </a:lnTo>
                <a:lnTo>
                  <a:pt x="0" y="1578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8" r="0" b="-7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26613" y="8127321"/>
            <a:ext cx="7541019" cy="31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Palash Sir — Project Mentor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6613" y="8502063"/>
            <a:ext cx="7541019" cy="784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42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Provides technical guidance on the overall project direction, helps evaluate implementation approaches, and supports decision-making for the next development steps.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214961" y="7927124"/>
            <a:ext cx="8093888" cy="1578216"/>
          </a:xfrm>
          <a:custGeom>
            <a:avLst/>
            <a:gdLst/>
            <a:ahLst/>
            <a:cxnLst/>
            <a:rect r="r" b="b" t="t" l="l"/>
            <a:pathLst>
              <a:path h="1578216" w="8093888">
                <a:moveTo>
                  <a:pt x="0" y="0"/>
                </a:moveTo>
                <a:lnTo>
                  <a:pt x="8093888" y="0"/>
                </a:lnTo>
                <a:lnTo>
                  <a:pt x="8093888" y="1578216"/>
                </a:lnTo>
                <a:lnTo>
                  <a:pt x="0" y="1578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78" r="0" b="-7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548593" y="8127321"/>
            <a:ext cx="7541019" cy="31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Ishita Ma'am — Cloud &amp; Infrastructure Mentor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48593" y="8502063"/>
            <a:ext cx="7541019" cy="52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42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Guides the cloud architecture exploration, AWS deployment strategy, and helps plan the future infrastructure and scalability roadmap.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71B2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0273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983657"/>
            <a:ext cx="16315868" cy="90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3371126"/>
            <a:ext cx="1723095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Task Manager with Priority Scheduling</a:t>
            </a: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— Harshit Arora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4230024"/>
            <a:ext cx="16315868" cy="3288992"/>
            <a:chOff x="0" y="0"/>
            <a:chExt cx="21754490" cy="43853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54464" cy="4385310"/>
            </a:xfrm>
            <a:custGeom>
              <a:avLst/>
              <a:gdLst/>
              <a:ahLst/>
              <a:cxnLst/>
              <a:rect r="r" b="b" t="t" l="l"/>
              <a:pathLst>
                <a:path h="4385310" w="21754464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21697696" y="0"/>
                  </a:lnTo>
                  <a:cubicBezTo>
                    <a:pt x="21729064" y="0"/>
                    <a:pt x="21754464" y="25400"/>
                    <a:pt x="21754464" y="56769"/>
                  </a:cubicBezTo>
                  <a:lnTo>
                    <a:pt x="21754464" y="4328541"/>
                  </a:lnTo>
                  <a:cubicBezTo>
                    <a:pt x="21754464" y="4359910"/>
                    <a:pt x="21729064" y="4385310"/>
                    <a:pt x="21697696" y="4385310"/>
                  </a:cubicBezTo>
                  <a:lnTo>
                    <a:pt x="56769" y="4385310"/>
                  </a:lnTo>
                  <a:cubicBezTo>
                    <a:pt x="25400" y="4385310"/>
                    <a:pt x="0" y="4359910"/>
                    <a:pt x="0" y="4328541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991" y="4230024"/>
            <a:ext cx="5438575" cy="1644491"/>
            <a:chOff x="0" y="0"/>
            <a:chExt cx="7251433" cy="21926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51446" cy="2192655"/>
            </a:xfrm>
            <a:custGeom>
              <a:avLst/>
              <a:gdLst/>
              <a:ahLst/>
              <a:cxnLst/>
              <a:rect r="r" b="b" t="t" l="l"/>
              <a:pathLst>
                <a:path h="2192655" w="7251446">
                  <a:moveTo>
                    <a:pt x="47244" y="0"/>
                  </a:moveTo>
                  <a:lnTo>
                    <a:pt x="7251446" y="0"/>
                  </a:lnTo>
                  <a:lnTo>
                    <a:pt x="7251446" y="2192655"/>
                  </a:lnTo>
                  <a:lnTo>
                    <a:pt x="0" y="2192655"/>
                  </a:lnTo>
                  <a:lnTo>
                    <a:pt x="0" y="47244"/>
                  </a:lnTo>
                  <a:cubicBezTo>
                    <a:pt x="0" y="21209"/>
                    <a:pt x="21209" y="0"/>
                    <a:pt x="47244" y="0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76721" y="4504239"/>
            <a:ext cx="4871104" cy="46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lang="en-US" sz="277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 CRUD Operations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6721" y="5051069"/>
            <a:ext cx="487110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Complete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31556" y="4230024"/>
            <a:ext cx="5438575" cy="1644491"/>
            <a:chOff x="0" y="0"/>
            <a:chExt cx="7251433" cy="21926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51446" cy="2192655"/>
            </a:xfrm>
            <a:custGeom>
              <a:avLst/>
              <a:gdLst/>
              <a:ahLst/>
              <a:cxnLst/>
              <a:rect r="r" b="b" t="t" l="l"/>
              <a:pathLst>
                <a:path h="2192655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2192655"/>
                  </a:lnTo>
                  <a:lnTo>
                    <a:pt x="0" y="2192655"/>
                  </a:ln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31556" y="4230024"/>
            <a:ext cx="38129" cy="1644491"/>
            <a:chOff x="0" y="0"/>
            <a:chExt cx="50838" cy="21926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0800" cy="2192655"/>
            </a:xfrm>
            <a:custGeom>
              <a:avLst/>
              <a:gdLst/>
              <a:ahLst/>
              <a:cxnLst/>
              <a:rect r="r" b="b" t="t" l="l"/>
              <a:pathLst>
                <a:path h="2192655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167255"/>
                  </a:lnTo>
                  <a:cubicBezTo>
                    <a:pt x="50800" y="2181352"/>
                    <a:pt x="39370" y="2192655"/>
                    <a:pt x="25400" y="2192655"/>
                  </a:cubicBezTo>
                  <a:cubicBezTo>
                    <a:pt x="11430" y="2192655"/>
                    <a:pt x="0" y="2181225"/>
                    <a:pt x="0" y="2167255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715296" y="4504239"/>
            <a:ext cx="4871104" cy="46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lang="en-US" sz="277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 Priority Scheduling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15296" y="5051069"/>
            <a:ext cx="487110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Complete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870131" y="4230024"/>
            <a:ext cx="5438575" cy="1644491"/>
            <a:chOff x="0" y="0"/>
            <a:chExt cx="7251433" cy="21926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51319" cy="2192655"/>
            </a:xfrm>
            <a:custGeom>
              <a:avLst/>
              <a:gdLst/>
              <a:ahLst/>
              <a:cxnLst/>
              <a:rect r="r" b="b" t="t" l="l"/>
              <a:pathLst>
                <a:path h="2192655" w="7251319">
                  <a:moveTo>
                    <a:pt x="0" y="0"/>
                  </a:moveTo>
                  <a:lnTo>
                    <a:pt x="7204075" y="0"/>
                  </a:lnTo>
                  <a:cubicBezTo>
                    <a:pt x="7230237" y="0"/>
                    <a:pt x="7251319" y="21209"/>
                    <a:pt x="7251319" y="47244"/>
                  </a:cubicBezTo>
                  <a:lnTo>
                    <a:pt x="7251319" y="2192655"/>
                  </a:lnTo>
                  <a:lnTo>
                    <a:pt x="0" y="2192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70131" y="4230024"/>
            <a:ext cx="38129" cy="1644491"/>
            <a:chOff x="0" y="0"/>
            <a:chExt cx="50838" cy="21926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800" cy="2192655"/>
            </a:xfrm>
            <a:custGeom>
              <a:avLst/>
              <a:gdLst/>
              <a:ahLst/>
              <a:cxnLst/>
              <a:rect r="r" b="b" t="t" l="l"/>
              <a:pathLst>
                <a:path h="2192655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167255"/>
                  </a:lnTo>
                  <a:cubicBezTo>
                    <a:pt x="50800" y="2181352"/>
                    <a:pt x="39370" y="2192655"/>
                    <a:pt x="25400" y="2192655"/>
                  </a:cubicBezTo>
                  <a:cubicBezTo>
                    <a:pt x="11430" y="2192655"/>
                    <a:pt x="0" y="2181225"/>
                    <a:pt x="0" y="2167255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153862" y="4504239"/>
            <a:ext cx="4871104" cy="46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lang="en-US" sz="277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 Project Synopsis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53862" y="5051069"/>
            <a:ext cx="487110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Complete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2991" y="5874525"/>
            <a:ext cx="8157782" cy="1644491"/>
            <a:chOff x="0" y="0"/>
            <a:chExt cx="10877042" cy="219265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877042" cy="2192655"/>
            </a:xfrm>
            <a:custGeom>
              <a:avLst/>
              <a:gdLst/>
              <a:ahLst/>
              <a:cxnLst/>
              <a:rect r="r" b="b" t="t" l="l"/>
              <a:pathLst>
                <a:path h="2192655" w="10877042">
                  <a:moveTo>
                    <a:pt x="0" y="0"/>
                  </a:moveTo>
                  <a:lnTo>
                    <a:pt x="10877042" y="0"/>
                  </a:lnTo>
                  <a:lnTo>
                    <a:pt x="10877042" y="2192655"/>
                  </a:lnTo>
                  <a:lnTo>
                    <a:pt x="47244" y="2192655"/>
                  </a:lnTo>
                  <a:cubicBezTo>
                    <a:pt x="21082" y="2192655"/>
                    <a:pt x="0" y="2171446"/>
                    <a:pt x="0" y="21454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92991" y="5874525"/>
            <a:ext cx="8157782" cy="38129"/>
            <a:chOff x="0" y="0"/>
            <a:chExt cx="10877042" cy="508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77042" cy="50800"/>
            </a:xfrm>
            <a:custGeom>
              <a:avLst/>
              <a:gdLst/>
              <a:ahLst/>
              <a:cxnLst/>
              <a:rect r="r" b="b" t="t" l="l"/>
              <a:pathLst>
                <a:path h="50800" w="1087704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51642" y="0"/>
                  </a:lnTo>
                  <a:cubicBezTo>
                    <a:pt x="10865739" y="0"/>
                    <a:pt x="10877042" y="11430"/>
                    <a:pt x="10877042" y="25400"/>
                  </a:cubicBezTo>
                  <a:cubicBezTo>
                    <a:pt x="10877042" y="39497"/>
                    <a:pt x="10865612" y="50800"/>
                    <a:pt x="10851642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76721" y="6148730"/>
            <a:ext cx="7590320" cy="46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🔄</a:t>
            </a:r>
            <a:r>
              <a:rPr lang="en-US" sz="277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 Kafka Integration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76721" y="6695570"/>
            <a:ext cx="7590320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 Progress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50772" y="5874525"/>
            <a:ext cx="8157934" cy="1644491"/>
            <a:chOff x="0" y="0"/>
            <a:chExt cx="10877245" cy="21926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77296" cy="2192655"/>
            </a:xfrm>
            <a:custGeom>
              <a:avLst/>
              <a:gdLst/>
              <a:ahLst/>
              <a:cxnLst/>
              <a:rect r="r" b="b" t="t" l="l"/>
              <a:pathLst>
                <a:path h="2192655" w="10877296">
                  <a:moveTo>
                    <a:pt x="0" y="0"/>
                  </a:moveTo>
                  <a:lnTo>
                    <a:pt x="10877296" y="0"/>
                  </a:lnTo>
                  <a:lnTo>
                    <a:pt x="10877296" y="2145411"/>
                  </a:lnTo>
                  <a:cubicBezTo>
                    <a:pt x="10877296" y="2171573"/>
                    <a:pt x="10856087" y="2192655"/>
                    <a:pt x="10830052" y="2192655"/>
                  </a:cubicBezTo>
                  <a:lnTo>
                    <a:pt x="0" y="21926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465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150772" y="5874525"/>
            <a:ext cx="38129" cy="1644491"/>
            <a:chOff x="0" y="0"/>
            <a:chExt cx="50838" cy="21926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" cy="2192655"/>
            </a:xfrm>
            <a:custGeom>
              <a:avLst/>
              <a:gdLst/>
              <a:ahLst/>
              <a:cxnLst/>
              <a:rect r="r" b="b" t="t" l="l"/>
              <a:pathLst>
                <a:path h="2192655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167255"/>
                  </a:lnTo>
                  <a:cubicBezTo>
                    <a:pt x="50800" y="2181352"/>
                    <a:pt x="39370" y="2192655"/>
                    <a:pt x="25400" y="2192655"/>
                  </a:cubicBezTo>
                  <a:cubicBezTo>
                    <a:pt x="11430" y="2192655"/>
                    <a:pt x="0" y="2181225"/>
                    <a:pt x="0" y="2167255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150772" y="5874525"/>
            <a:ext cx="8157934" cy="38129"/>
            <a:chOff x="0" y="0"/>
            <a:chExt cx="10877245" cy="508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877169" cy="50800"/>
            </a:xfrm>
            <a:custGeom>
              <a:avLst/>
              <a:gdLst/>
              <a:ahLst/>
              <a:cxnLst/>
              <a:rect r="r" b="b" t="t" l="l"/>
              <a:pathLst>
                <a:path h="50800" w="10877169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851769" y="0"/>
                  </a:lnTo>
                  <a:cubicBezTo>
                    <a:pt x="10865865" y="0"/>
                    <a:pt x="10877169" y="11430"/>
                    <a:pt x="10877169" y="25400"/>
                  </a:cubicBezTo>
                  <a:cubicBezTo>
                    <a:pt x="10877169" y="39497"/>
                    <a:pt x="10865738" y="50800"/>
                    <a:pt x="10851769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434503" y="6148730"/>
            <a:ext cx="7590472" cy="46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🔜</a:t>
            </a:r>
            <a:r>
              <a:rPr lang="en-US" sz="277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 Cloud Deployment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34503" y="6695570"/>
            <a:ext cx="7590472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Planned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92991" y="7752483"/>
            <a:ext cx="17230954" cy="5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We welcome your </a:t>
            </a:r>
            <a:r>
              <a:rPr lang="en-US" sz="2176" b="true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questions, feedback, and suggestions.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DAHWspduh_8</dc:identifier>
  <dcterms:modified xsi:type="dcterms:W3CDTF">2011-08-01T06:04:30Z</dcterms:modified>
  <cp:revision>1</cp:revision>
  <dc:title>Task-Manager-with-Priority-Scheduling (1).pptx</dc:title>
</cp:coreProperties>
</file>